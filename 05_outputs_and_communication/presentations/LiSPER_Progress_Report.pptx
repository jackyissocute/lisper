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43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Progress (%)</c:v>
                </c:pt>
              </c:strCache>
            </c:strRef>
          </c:tx>
          <c:spPr>
            <a:solidFill>
              <a:srgbClr val="06B6D4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Candidate design</c:v>
                </c:pt>
                <c:pt idx="1">
                  <c:v>ESMFold</c:v>
                </c:pt>
                <c:pt idx="2">
                  <c:v>CHARMM-GUI</c:v>
                </c:pt>
                <c:pt idx="3">
                  <c:v>Equilibration</c:v>
                </c:pt>
                <c:pt idx="4">
                  <c:v>Production MD</c:v>
                </c:pt>
                <c:pt idx="5">
                  <c:v>Umbrella PMF</c:v>
                </c:pt>
                <c:pt idx="6">
                  <c:v>Plasmids</c:v>
                </c:pt>
                <c:pt idx="7">
                  <c:v>Wet-lab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25</c:v>
                </c:pt>
                <c:pt idx="5">
                  <c:v>5</c:v>
                </c:pt>
                <c:pt idx="6">
                  <c:v>95</c:v>
                </c:pt>
                <c:pt idx="7">
                  <c:v>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EF0-AB42-BF41-08AD5360D0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7315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3317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LiSPER Progress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D3EE"/>
                </a:solidFill>
              </a:defRPr>
            </a:pPr>
            <a:r>
              <a:t>Lithium-Selective Peptide Engineering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rPr dirty="0"/>
              <a:t>Advisor progress update — computational validation &amp; experimental preparation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/>
              <a:t>Jacky Lin  |  June 2026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 err="1"/>
              <a:t>github.com</a:t>
            </a:r>
            <a:r>
              <a:rPr dirty="0"/>
              <a:t>/</a:t>
            </a:r>
            <a:r>
              <a:rPr dirty="0" err="1"/>
              <a:t>jackyissocute</a:t>
            </a:r>
            <a:r>
              <a:rPr dirty="0"/>
              <a:t>/</a:t>
            </a:r>
            <a:r>
              <a:rPr dirty="0" err="1"/>
              <a:t>LiSPER</a:t>
            </a:r>
            <a:endParaRPr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Scientific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D3EE"/>
                </a:solidFill>
                <a:latin typeface="Calibri"/>
              </a:defRPr>
            </a:pPr>
            <a:r>
              <a:t>Can engineered peptides prefer Li+ over Na+?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LiSPER designs short, IDP-like peptides with oxygen-donor residues (Asp, Ser) and literature GPGDP/GPGNP motifs.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Goal: measurable Li+/Na+ selectivity in aqueous solution — not just Li+ binding.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Long-term vision: peptide-enabled Bio-DLE for battery recycling and lithium recovery streams.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Selectivity metric:  ΔΔG = ΔG(Li+) − ΔG(Na+)  (more negative = stronger Li+ preference).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0" y="1325880"/>
            <a:ext cx="2834640" cy="324612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89320" y="150876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2D3EE"/>
                </a:solidFill>
              </a:defRPr>
            </a:pPr>
            <a:r>
              <a:t>Motif inspiration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GPGDP / GPGNP</a:t>
            </a:r>
          </a:p>
          <a:p>
            <a:pPr>
              <a:spcAft>
                <a:spcPts val="200"/>
              </a:spcAft>
              <a:defRPr sz="1300" b="1">
                <a:solidFill>
                  <a:srgbClr val="22D3EE"/>
                </a:solidFill>
              </a:defRPr>
            </a:pPr>
            <a:r>
              <a:t>IDP flexibility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Gly / Ser / Pro rich</a:t>
            </a:r>
          </a:p>
          <a:p>
            <a:pPr>
              <a:spcAft>
                <a:spcPts val="200"/>
              </a:spcAft>
              <a:defRPr sz="1300" b="1">
                <a:solidFill>
                  <a:srgbClr val="22D3EE"/>
                </a:solidFill>
              </a:defRPr>
            </a:pPr>
            <a:r>
              <a:t>Paired simulation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LiCl vs NaCl MD</a:t>
            </a:r>
          </a:p>
          <a:p>
            <a:pPr>
              <a:spcAft>
                <a:spcPts val="200"/>
              </a:spcAft>
              <a:defRPr sz="1300" b="1">
                <a:solidFill>
                  <a:srgbClr val="22D3EE"/>
                </a:solidFill>
              </a:defRPr>
            </a:pPr>
            <a:r>
              <a:t>Free-energy ranking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Umbrella → PMF</a:t>
            </a:r>
          </a:p>
          <a:p>
            <a:pPr>
              <a:spcAft>
                <a:spcPts val="200"/>
              </a:spcAft>
              <a:defRPr sz="1300" b="1">
                <a:solidFill>
                  <a:srgbClr val="22D3EE"/>
                </a:solidFill>
              </a:defRPr>
            </a:pPr>
            <a:r>
              <a:t>Wet-lab validation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His6-SUMO expression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Three-Phase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D3EE"/>
                </a:solidFill>
                <a:latin typeface="Calibri"/>
              </a:defRPr>
            </a:pPr>
            <a:r>
              <a:t>Discovery → Validation → Translation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639568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639568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490472"/>
            <a:ext cx="2420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Phase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83080"/>
            <a:ext cx="24201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240280"/>
            <a:ext cx="24201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Computational discovery</a:t>
            </a:r>
            <a:br/>
            <a:r>
              <a:t>• 10 candidates</a:t>
            </a:r>
            <a:br/>
            <a:r>
              <a:t>• MD + clustering</a:t>
            </a:r>
            <a:br/>
            <a:r>
              <a:t>• PMF ranking planned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2216" y="1325880"/>
            <a:ext cx="2639568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52216" y="1325880"/>
            <a:ext cx="2639568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61944" y="1490472"/>
            <a:ext cx="2420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Phase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1944" y="1783080"/>
            <a:ext cx="24201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PREPARING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1944" y="2240280"/>
            <a:ext cx="24201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Experimental validation</a:t>
            </a:r>
            <a:br/>
            <a:r>
              <a:t>• His6-SUMO plasmids ready</a:t>
            </a:r>
            <a:br/>
            <a:r>
              <a:t>• Expression &amp; assays next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01512" y="1325880"/>
            <a:ext cx="2639568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01512" y="1325880"/>
            <a:ext cx="2639568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11240" y="1490472"/>
            <a:ext cx="2420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Phase III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1240" y="1783080"/>
            <a:ext cx="24201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CONCEPT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1240" y="2240280"/>
            <a:ext cx="24201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Industrial translation</a:t>
            </a:r>
            <a:br/>
            <a:r>
              <a:t>• Host selection report</a:t>
            </a:r>
            <a:br/>
            <a:r>
              <a:t>• Packed-bed Bio-DLE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429000"/>
            <a:ext cx="8138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Repository reorganized (June 2026) into stage-based folders for clearer tracking.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Professor-relevant focus today: computational pipeline status + vendor-ready plasmid package.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First-Round Candidate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D3EE"/>
                </a:solidFill>
                <a:latin typeface="Calibri"/>
              </a:defRPr>
            </a:pPr>
            <a:r>
              <a:t>10 peptides — compact enough for simulation and wet-lab follow-through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6675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Candidate</a:t>
                      </a:r>
                    </a:p>
                  </a:txBody>
                  <a:tcPr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Sequence (abbrev.)</a:t>
                      </a:r>
                    </a:p>
                  </a:txBody>
                  <a:tcPr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First subset?</a:t>
                      </a:r>
                    </a:p>
                  </a:txBody>
                  <a:tcPr>
                    <a:solidFill>
                      <a:srgbClr val="0B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LiD3-1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GPGDP ×3 repeat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LiND-1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GPGNP + GPGDP hybrid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IDP-Li-1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Flexible acidic 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LowCharge-Li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Lower charge control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Control-Negative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Weak/neutral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4–9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 additional designs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Diversity / affinity variants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Screen later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5262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Wet-lab first subset: LiD3-1, LiND-1, IDP-Li-1, LowCharge-Li, Control-Negative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Computational Pipeline — Completed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D3EE"/>
                </a:solidFill>
                <a:latin typeface="Calibri"/>
              </a:defRPr>
            </a:pPr>
            <a:r>
              <a:t>ESMFold → CHARMM-GUI → Minimization → Equilibration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95527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Candidate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30759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307592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10 sequences in candidates.tsv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92808"/>
            <a:ext cx="109728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892808"/>
            <a:ext cx="795527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ESMFold structures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965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6596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PDB + PAE for all 10; starting models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51176"/>
            <a:ext cx="109728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2551176"/>
            <a:ext cx="795527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62432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CHARMM-GUI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6243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624328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10 LiCl + 10 NaCl (CHARMM36m, TIP3P)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09544"/>
            <a:ext cx="109728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209544"/>
            <a:ext cx="795527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28269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GROMACS minimize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28269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282696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10/10 LiCl and NaCl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867912"/>
            <a:ext cx="109728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3867912"/>
            <a:ext cx="795527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941064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GROMACS equilibrate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941064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941064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10/10 LiCl and NaCl (step4.1)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Ensemble-aware workflow: ESMFold is a starting point; selectivity comes from MD → clustering → PMF.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D3EE"/>
                </a:solidFill>
                <a:latin typeface="Calibri"/>
              </a:defRPr>
            </a:pPr>
            <a:r>
              <a:t>Workstream progress from repository status files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23444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60720" y="132588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B1A33"/>
                </a:solidFill>
              </a:defRPr>
            </a:pPr>
            <a:r>
              <a:t>Complete</a:t>
            </a:r>
          </a:p>
          <a:p>
            <a:pPr>
              <a:spcAft>
                <a:spcPts val="1200"/>
              </a:spcAft>
              <a:defRPr sz="1000">
                <a:solidFill>
                  <a:srgbClr val="1E293B"/>
                </a:solidFill>
              </a:defRPr>
            </a:pPr>
            <a:r>
              <a:t>Candidate design, ESMFold, CHARMM-GUI, equilibration (20/20 systems)</a:t>
            </a:r>
          </a:p>
          <a:p>
            <a:pPr>
              <a:spcAft>
                <a:spcPts val="200"/>
              </a:spcAft>
              <a:defRPr sz="1300" b="1">
                <a:solidFill>
                  <a:srgbClr val="0B1A33"/>
                </a:solidFill>
              </a:defRPr>
            </a:pPr>
            <a:r>
              <a:t>Active (~25%)</a:t>
            </a:r>
          </a:p>
          <a:p>
            <a:pPr>
              <a:spcAft>
                <a:spcPts val="1200"/>
              </a:spcAft>
              <a:defRPr sz="1000">
                <a:solidFill>
                  <a:srgbClr val="1E293B"/>
                </a:solidFill>
              </a:defRPr>
            </a:pPr>
            <a:r>
              <a:t>20 ns production MD + clustering — LiD3-1 done; IDP-Li-1 running</a:t>
            </a:r>
          </a:p>
          <a:p>
            <a:pPr>
              <a:spcAft>
                <a:spcPts val="200"/>
              </a:spcAft>
              <a:defRPr sz="1300" b="1">
                <a:solidFill>
                  <a:srgbClr val="0B1A33"/>
                </a:solidFill>
              </a:defRPr>
            </a:pPr>
            <a:r>
              <a:t>Planned (~5%)</a:t>
            </a:r>
          </a:p>
          <a:p>
            <a:pPr>
              <a:spcAft>
                <a:spcPts val="1200"/>
              </a:spcAft>
              <a:defRPr sz="1000">
                <a:solidFill>
                  <a:srgbClr val="1E293B"/>
                </a:solidFill>
              </a:defRPr>
            </a:pPr>
            <a:r>
              <a:t>Umbrella sampling and ΔΔG PMF ranking</a:t>
            </a:r>
          </a:p>
          <a:p>
            <a:pPr>
              <a:spcAft>
                <a:spcPts val="200"/>
              </a:spcAft>
              <a:defRPr sz="1300" b="1">
                <a:solidFill>
                  <a:srgbClr val="0B1A33"/>
                </a:solidFill>
              </a:defRPr>
            </a:pPr>
            <a:r>
              <a:t>Preparing (~95%)</a:t>
            </a:r>
          </a:p>
          <a:p>
            <a:pPr>
              <a:spcAft>
                <a:spcPts val="1200"/>
              </a:spcAft>
              <a:defRPr sz="1000">
                <a:solidFill>
                  <a:srgbClr val="1E293B"/>
                </a:solidFill>
              </a:defRPr>
            </a:pPr>
            <a:r>
              <a:t>His6-SUMO plasmid package vendor-ready; wet-lab not started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MD Production Status (LiCl)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D3EE"/>
                </a:solidFill>
                <a:latin typeface="Calibri"/>
              </a:defRPr>
            </a:pPr>
            <a:r>
              <a:t>Remote GROMACS on SeeTACloud — synced 2026-06-15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8138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Candidate</a:t>
                      </a:r>
                    </a:p>
                  </a:txBody>
                  <a:tcPr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Production</a:t>
                      </a:r>
                    </a:p>
                  </a:txBody>
                  <a:tcPr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Clustering</a:t>
                      </a:r>
                    </a:p>
                  </a:txBody>
                  <a:tcPr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B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LiD3-1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✓ 20 ns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Blocked (trjconv)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Trajectory valid; index/atom mismatch at centering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LiND-1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Blocked (grompp)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Missing toppar/forcefield.itp in prod 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IDP-Li-1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~43% (8.65/20 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Active run; T ≈ 295 K, stable constraints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Remaining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Queued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Sequential CPU-only queue after IDP-Li-1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NaCl (all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Waiting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Queued behind LiCl production/clustering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977639"/>
            <a:ext cx="8138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Scientific gate: obtain clustered representative structures before umbrella sampling.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LiD3-1 production succeeded — clustering repair is a post-processing fix, not failed MD.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Rough estimate: ~8–10 days remaining LiCl queue + ~10 days NaCl (CPU-only, sequential).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Computational Validation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D3EE"/>
                </a:solidFill>
                <a:latin typeface="Calibri"/>
              </a:defRPr>
            </a:pPr>
            <a:r>
              <a:t>Why clustering matters for IDP-like peptides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325880" cy="86868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938528"/>
            <a:ext cx="117957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ESMFold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Starting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148840"/>
            <a:ext cx="1097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764792" y="1828800"/>
            <a:ext cx="1325880" cy="86868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37944" y="1938528"/>
            <a:ext cx="117957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CHARMM-GUI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Solvated LiCl / NaCl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148840"/>
            <a:ext cx="1097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63824" y="1828800"/>
            <a:ext cx="1325880" cy="86868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36976" y="1938528"/>
            <a:ext cx="117957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20 ns MD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Conformational 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148840"/>
            <a:ext cx="1097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62856" y="1828800"/>
            <a:ext cx="1325880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36008" y="1938528"/>
            <a:ext cx="117957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Cluster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Top-populated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2148840"/>
            <a:ext cx="1097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61888" y="1828800"/>
            <a:ext cx="132588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0" y="1938528"/>
            <a:ext cx="117957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Umbrella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PMF windows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2148840"/>
            <a:ext cx="1097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828800"/>
            <a:ext cx="132588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34072" y="1938528"/>
            <a:ext cx="117957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ΔΔG rank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Li+ vs Na+ selectivity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06324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Force field: CHARMM36m + TIP3P  |  GROMACS 2026.0  |  Remote CPU-only runs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We are currently between steps 3 and 4 — first complete trajectory exists (LiD3-1 LiCl).</a:t>
            </a:r>
          </a:p>
        </p:txBody>
      </p:sp>
    </p:spTree>
  </p:cSld>
  <p:clrMapOvr>
    <a:masterClrMapping/>
  </p:clrMapOvr>
  <p:transition spd="med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Experimental Validation — Plasmid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D3EE"/>
                </a:solidFill>
                <a:latin typeface="Calibri"/>
              </a:defRPr>
            </a:pPr>
            <a:r>
              <a:t>His6-SUMO fusion replaces deprecated direct His/T7 constructs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Problem with v1 designs: peptides too small (~1.1–1.6 kDa) for robust expression; vector-derived residues on assay molecule.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Solution: express as His6-Smt3 SUMO fusion (~13.3–13.8 kDa) in pET-28a(+), E. coli BL21(DE3).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SUMO protease cleavage after C-terminal GG releases exact native LiSPER peptide — no His-tag remnant.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All 10 candidates have vendor-ready GenBank maps, FASTA inserts, and order 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417320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B1A33"/>
                </a:solidFill>
              </a:defRPr>
            </a:pPr>
            <a:r>
              <a:t>Expression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2971800" cy="50292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0" y="1901952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T7 → RBS → His6 → SUMO → LiSPER → STOP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514600"/>
            <a:ext cx="29718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06440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vendor_ready_SUMO/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10 GenBank plasmid maps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Synthetic ORF FASTA files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Construct summary CSV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Vendor submission report</a:t>
            </a:r>
          </a:p>
          <a:p>
            <a:pPr>
              <a:defRPr sz="1000" b="0">
                <a:solidFill>
                  <a:srgbClr val="1E293B"/>
                </a:solidFill>
              </a:defRPr>
            </a:pPr>
            <a:r>
              <a:t>• Reproducible Python generator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Wet-Lab Plan (Phase 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D3EE"/>
                </a:solidFill>
                <a:latin typeface="Calibri"/>
              </a:defRPr>
            </a:pPr>
            <a:r>
              <a:t>Ready to order plasmids — assays designed, not yet executed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952244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195224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399032"/>
            <a:ext cx="17327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Expression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17327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Planned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148840"/>
            <a:ext cx="17327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BL21(DE3), T7 induction, Kan selection</a:t>
            </a:r>
            <a:br/>
            <a:r>
              <a:t>Tris-Tricine SDS-PAGE (~14 kDa fusion)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4892" y="1234440"/>
            <a:ext cx="1952244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4892" y="1234440"/>
            <a:ext cx="195224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4620" y="1399032"/>
            <a:ext cx="17327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Purification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4620" y="1691640"/>
            <a:ext cx="17327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Planned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4620" y="2148840"/>
            <a:ext cx="17327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Ni-NTA native conditions</a:t>
            </a:r>
            <a:br/>
            <a:r>
              <a:t>SUMO protease cleavage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26864" y="1234440"/>
            <a:ext cx="1952244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26864" y="1234440"/>
            <a:ext cx="195224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36592" y="1399032"/>
            <a:ext cx="17327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Peptide 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1691640"/>
            <a:ext cx="17327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Planned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148840"/>
            <a:ext cx="17327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Second Ni-NTA → untagged peptide in flow-through</a:t>
            </a:r>
            <a:br/>
            <a:r>
              <a:t>LC-MS / MALDI identity check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88836" y="1234440"/>
            <a:ext cx="1952244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88836" y="1234440"/>
            <a:ext cx="1952244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98564" y="1399032"/>
            <a:ext cx="17327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Binding assays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8564" y="1691640"/>
            <a:ext cx="17327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Planned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8564" y="2148840"/>
            <a:ext cx="17327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Li+ binding + Na+ competition</a:t>
            </a:r>
            <a:br/>
            <a:r>
              <a:t>First subset: 5 candidates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42900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Peptides lack aromatic residues — A280 is not suitable; use mass spec for identity.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Low-MW peptides (~1 kDa) will not be retained on standard 3–30 kDa MWCO devices.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Next experimental gate: vendor synthesis → sequence verification → pilot expression of first subset.</a:t>
            </a: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Key Achievements to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2606040" cy="14173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D3EE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LiSPER candidates designed with literature + IDP rationale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97280"/>
            <a:ext cx="2606040" cy="14173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9000" y="1234440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D3EE"/>
                </a:solidFill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8745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Solvated MD systems built (10 LiCl + 10 NaCl)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097280"/>
            <a:ext cx="2606040" cy="14173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234440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D3EE"/>
                </a:solidFill>
              </a:defRPr>
            </a:pPr>
            <a:r>
              <a:t>20/20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745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Systems minimized &amp; equilibrated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88920"/>
            <a:ext cx="2606040" cy="14173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D3EE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Complete 20 ns LiCl production trajectory (LiD3-1)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788920"/>
            <a:ext cx="2606040" cy="14173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926080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D3EE"/>
                </a:solidFill>
              </a:defRPr>
            </a:pPr>
            <a: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5661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Vendor-ready His6-SUMO plasmid constructs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Next Steps &amp;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D3EE"/>
                </a:solidFill>
                <a:latin typeface="Calibri"/>
              </a:defRPr>
            </a:pPr>
            <a:r>
              <a:t>Parallel computational queue + experimental kickoff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508760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325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Now – 2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234440"/>
            <a:ext cx="64922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1344168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Finish LiCl/NaCl production MD; repair LiD3-1 clustering &amp; LiND-1 grompp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56232"/>
            <a:ext cx="150876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94767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Weeks 2–4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856232"/>
            <a:ext cx="64922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0" y="196596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Structural clustering → representative PDBs for all candidates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78024"/>
            <a:ext cx="150876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56946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Weeks 4–8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2478024"/>
            <a:ext cx="64922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86000" y="2587752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Umbrella sampling + PMF → ΔΔG Li+/Na+ ranking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99816"/>
            <a:ext cx="1508760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19125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Immediate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3099816"/>
            <a:ext cx="64922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86000" y="3209544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Submit His6-SUMO plasmids to vendor; begin with 5-candidate subset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21608"/>
            <a:ext cx="1508760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38130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After plasmids arrive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3721608"/>
            <a:ext cx="64922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86000" y="3831336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Expression → Ni-NTA → SUMO cleavage → Li+/Na+ binding assays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06B6D4"/>
                </a:solidFill>
              </a:defRPr>
            </a:pPr>
            <a:r>
              <a:t>Discussion: prioritize vendor order now vs. wait for computational ranking of first subset?</a:t>
            </a:r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103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D3EE"/>
                </a:solidFill>
              </a:defRPr>
            </a:pPr>
            <a:r>
              <a:t>Questions &amp; feedback welcome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Repository: github.com/jackyissocute/LiSPER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LiSPER — Can engineered peptide ensembles make lithium recovery more selective?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1071</Words>
  <Application>Microsoft Macintosh PowerPoint</Application>
  <PresentationFormat>On-screen Show (16:9)</PresentationFormat>
  <Paragraphs>202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Yukun Lin</cp:lastModifiedBy>
  <cp:revision>2</cp:revision>
  <dcterms:created xsi:type="dcterms:W3CDTF">2013-01-27T09:14:16Z</dcterms:created>
  <dcterms:modified xsi:type="dcterms:W3CDTF">2026-06-15T04:14:21Z</dcterms:modified>
  <cp:category/>
</cp:coreProperties>
</file>